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75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73" r:id="rId18"/>
    <p:sldId id="274" r:id="rId19"/>
  </p:sldIdLst>
  <p:sldSz cx="12192000" cy="6858000"/>
  <p:notesSz cx="7099300" cy="10234613"/>
  <p:embeddedFontLst>
    <p:embeddedFont>
      <p:font typeface="Noto Sans Symbols" panose="020B0604020202020204" charset="0"/>
      <p:regular r:id="rId21"/>
      <p:bold r:id="rId22"/>
    </p:embeddedFont>
    <p:embeddedFont>
      <p:font typeface="Questrial" pitchFamily="2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ZfqYZa6DYli55DAO5O56xozkn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82" y="2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n Soares" userId="c217a86b1d207f9c" providerId="LiveId" clId="{F3F1012C-4EDD-422C-B339-22A5159B9481}"/>
    <pc:docChg chg="undo custSel addSld delSld modSld">
      <pc:chgData name="Alan Soares" userId="c217a86b1d207f9c" providerId="LiveId" clId="{F3F1012C-4EDD-422C-B339-22A5159B9481}" dt="2026-09-26T20:03:39.322" v="889" actId="20577"/>
      <pc:docMkLst>
        <pc:docMk/>
      </pc:docMkLst>
      <pc:sldChg chg="modSp mod">
        <pc:chgData name="Alan Soares" userId="c217a86b1d207f9c" providerId="LiveId" clId="{F3F1012C-4EDD-422C-B339-22A5159B9481}" dt="2026-09-26T20:03:39.322" v="889" actId="20577"/>
        <pc:sldMkLst>
          <pc:docMk/>
          <pc:sldMk cId="0" sldId="256"/>
        </pc:sldMkLst>
        <pc:spChg chg="mod">
          <ac:chgData name="Alan Soares" userId="c217a86b1d207f9c" providerId="LiveId" clId="{F3F1012C-4EDD-422C-B339-22A5159B9481}" dt="2026-09-26T20:03:39.322" v="889" actId="20577"/>
          <ac:spMkLst>
            <pc:docMk/>
            <pc:sldMk cId="0" sldId="256"/>
            <ac:spMk id="109" creationId="{00000000-0000-0000-0000-000000000000}"/>
          </ac:spMkLst>
        </pc:spChg>
        <pc:spChg chg="mod">
          <ac:chgData name="Alan Soares" userId="c217a86b1d207f9c" providerId="LiveId" clId="{F3F1012C-4EDD-422C-B339-22A5159B9481}" dt="2026-09-26T20:03:35.393" v="888" actId="20577"/>
          <ac:spMkLst>
            <pc:docMk/>
            <pc:sldMk cId="0" sldId="256"/>
            <ac:spMk id="110" creationId="{00000000-0000-0000-0000-000000000000}"/>
          </ac:spMkLst>
        </pc:spChg>
      </pc:sldChg>
      <pc:sldChg chg="addSp delSp modSp new mod">
        <pc:chgData name="Alan Soares" userId="c217a86b1d207f9c" providerId="LiveId" clId="{F3F1012C-4EDD-422C-B339-22A5159B9481}" dt="2026-09-26T20:03:28.228" v="871" actId="20577"/>
        <pc:sldMkLst>
          <pc:docMk/>
          <pc:sldMk cId="3246766658" sldId="258"/>
        </pc:sldMkLst>
        <pc:spChg chg="mod">
          <ac:chgData name="Alan Soares" userId="c217a86b1d207f9c" providerId="LiveId" clId="{F3F1012C-4EDD-422C-B339-22A5159B9481}" dt="2026-09-26T20:03:28.228" v="871" actId="20577"/>
          <ac:spMkLst>
            <pc:docMk/>
            <pc:sldMk cId="3246766658" sldId="258"/>
            <ac:spMk id="2" creationId="{90DEB8A6-BFD4-B226-4A90-F6C27B7297F0}"/>
          </ac:spMkLst>
        </pc:spChg>
        <pc:spChg chg="mod">
          <ac:chgData name="Alan Soares" userId="c217a86b1d207f9c" providerId="LiveId" clId="{F3F1012C-4EDD-422C-B339-22A5159B9481}" dt="2026-09-26T20:03:20.250" v="865" actId="20577"/>
          <ac:spMkLst>
            <pc:docMk/>
            <pc:sldMk cId="3246766658" sldId="258"/>
            <ac:spMk id="3" creationId="{EEB7AB7A-4F4F-6B28-5512-35E627B1ED9D}"/>
          </ac:spMkLst>
        </pc:spChg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3643974535" sldId="259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3712256705" sldId="260"/>
        </pc:sldMkLst>
      </pc:sldChg>
      <pc:sldChg chg="addSp delSp modSp new del mod">
        <pc:chgData name="Alan Soares" userId="c217a86b1d207f9c" providerId="LiveId" clId="{F3F1012C-4EDD-422C-B339-22A5159B9481}" dt="2026-09-26T20:03:04.384" v="840" actId="47"/>
        <pc:sldMkLst>
          <pc:docMk/>
          <pc:sldMk cId="1327807094" sldId="261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3208825457" sldId="262"/>
        </pc:sldMkLst>
      </pc:sldChg>
      <pc:sldChg chg="addSp modSp new del mod">
        <pc:chgData name="Alan Soares" userId="c217a86b1d207f9c" providerId="LiveId" clId="{F3F1012C-4EDD-422C-B339-22A5159B9481}" dt="2026-09-26T20:03:04.384" v="840" actId="47"/>
        <pc:sldMkLst>
          <pc:docMk/>
          <pc:sldMk cId="2825432527" sldId="263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489550913" sldId="264"/>
        </pc:sldMkLst>
      </pc:sldChg>
      <pc:sldChg chg="addSp delSp modSp new del mod">
        <pc:chgData name="Alan Soares" userId="c217a86b1d207f9c" providerId="LiveId" clId="{F3F1012C-4EDD-422C-B339-22A5159B9481}" dt="2026-09-26T20:03:04.384" v="840" actId="47"/>
        <pc:sldMkLst>
          <pc:docMk/>
          <pc:sldMk cId="785879794" sldId="265"/>
        </pc:sldMkLst>
      </pc:sldChg>
      <pc:sldChg chg="addSp modSp new del mod">
        <pc:chgData name="Alan Soares" userId="c217a86b1d207f9c" providerId="LiveId" clId="{F3F1012C-4EDD-422C-B339-22A5159B9481}" dt="2026-09-26T20:03:04.384" v="840" actId="47"/>
        <pc:sldMkLst>
          <pc:docMk/>
          <pc:sldMk cId="3927448255" sldId="266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4159218332" sldId="267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2321109231" sldId="268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3599931040" sldId="269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2839671876" sldId="270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2160373428" sldId="271"/>
        </pc:sldMkLst>
      </pc:sldChg>
      <pc:sldChg chg="modSp new del mod">
        <pc:chgData name="Alan Soares" userId="c217a86b1d207f9c" providerId="LiveId" clId="{F3F1012C-4EDD-422C-B339-22A5159B9481}" dt="2026-09-26T20:03:04.384" v="840" actId="47"/>
        <pc:sldMkLst>
          <pc:docMk/>
          <pc:sldMk cId="3721716504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362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estrial"/>
              <a:buNone/>
              <a:defRPr sz="13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294" y="0"/>
            <a:ext cx="3076362" cy="51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estrial"/>
              <a:buNone/>
              <a:defRPr sz="13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49" cy="3454399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29" y="4925407"/>
            <a:ext cx="5679439" cy="4029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107"/>
            <a:ext cx="3076362" cy="513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Questrial"/>
              <a:buNone/>
              <a:defRPr sz="13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362" cy="5135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"/>
              <a:buFont typeface="Quest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‹nº›</a:t>
            </a:fld>
            <a:endParaRPr sz="13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1:notes"/>
          <p:cNvSpPr txBox="1">
            <a:spLocks noGrp="1"/>
          </p:cNvSpPr>
          <p:nvPr>
            <p:ph type="body" idx="1"/>
          </p:nvPr>
        </p:nvSpPr>
        <p:spPr>
          <a:xfrm>
            <a:off x="709929" y="4925407"/>
            <a:ext cx="5679300" cy="40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t" anchorCtr="0">
            <a:noAutofit/>
          </a:bodyPr>
          <a:lstStyle/>
          <a:p>
            <a:r>
              <a:t>~30 s. Tema: legendar automaticamente imagens do Porto de Salvador em português do Brasil. O foco é a metodologia — como o experimento foi desenhado para responder às perguntas de pesquisa — e não resultados, que ainda serão produzidos.</a:t>
            </a:r>
          </a:p>
        </p:txBody>
      </p:sp>
      <p:sp>
        <p:nvSpPr>
          <p:cNvPr id="107" name="Google Shape;107;p1:notes"/>
          <p:cNvSpPr txBox="1">
            <a:spLocks noGrp="1"/>
          </p:cNvSpPr>
          <p:nvPr>
            <p:ph type="sldNum" idx="12"/>
          </p:nvPr>
        </p:nvSpPr>
        <p:spPr>
          <a:xfrm>
            <a:off x="4021294" y="9721107"/>
            <a:ext cx="3076500" cy="5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25" tIns="49500" rIns="99025" bIns="495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5"/>
              <a:buFont typeface="Questrial"/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1</a:t>
            </a:fld>
            <a:endParaRPr sz="13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Mostrar o contraste: um modelo genérico descreve 'um barco perto de um prédio'; a legenda que queremos usa o vocabulário do domínio. Esse é o gap de domínio que o trabalho mede. Reforçar o idioma: legendas em PT-BR, não traduzidas.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~40 s. Ler a hipótese. Destacar os três elementos que o experimento precisa medir: o ganho da adaptação com poucos dados, a distância para um modelo de fronteira e o custo de cada forma de adaptação.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Cada pergunta corresponde a uma comparação entre variantes: 1 = base → pretrain → finetune; 2 = lora × finetune; 3 = qlora × lora; 4 = variantes × gold; 5 = análise qualitativa dos erros. Essa correspondência volta no slide das variantes.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Dados e avaliação rodam na máquina local; o treino, que precisa de GPU, roda no Google Colab. O pacote modelos.zip leva os modelos treinados de volta junto com as legendas e o split usados no treino. Tudo é parametrizado: nenhuma escolha do experimento fica escondida no código.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O dataset é construído pelo próprio projeto. Variedade de cenas e de condições (ângulo, horário, clima) reduz viés. A licença de cada imagem fica registrada: sem isso o dataset não pode ser publicado. O número de 700 vem do teste: com 15% para teste, dá cerca de 100 imagens, abaixo do qual o CIDEr fica instável.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As legendas de referência de todas as imagens (treino, validação e teste) vêm do Claude Opus 5.5, guiado por um glossário portuário. Três legendas por imagem dão multi-referência às métricas. Como as legendas do Claude são o gabarito, avaliar o Claude contra elas seria circular — por isso o teto externo é outro fornecedor (Gemini). Limitação: são legendas de LLM, não humanas.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~40 s. Divisão 70/15/15 com semente fixa. Ao adicionar imagens, só as novas são sorteadas — o teste antigo não muda. Cada modelo guarda a impressão digital do split com que foi treinado, e a inferência local avisa se o split for outro.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 15 s. Três blocos: o encoder de visão transforma a imagem em features; o conector (merger) converte essas features em tokens que o LLM entende; o LLM escreve a legenda. O treino usa o próprio formato de chat do modelo, e a loss só é calculada sobre a legenda. Começamos com o Manacá-1B, um SLM brasileiro, mas ele é só texto — seria preciso aprender a ponte visão–linguagem do zero, o que exige centenas de milhares de pares.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 15 s. base: o Qwen original, só com a instrução — mostra o gap. pretrain: pré-treino continuado de domínio, só o conector aprende. finetune: todos os pesos do LLM. lora: adaptadores de posto baixo, ~1% dos parâmetros. qlora: o mesmo com o LLM em 4 bits. gold: Gemini Pro, de outro fornecedor, avaliado contra as mesmas referências. A pergunta 5 vem da análise qualitativa de todas.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~45 s. O ponto de partida comum torna finetune, lora e qlora comparáveis: todos saem do mesmo pretrain e só diferem no que treinam. O gold fica à parte, tracejado: não é treinado, é referência externa. A flag init_from=base repete as adaptações partindo do base para medir quanto o pré-treino contribui.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A GPU local tem 4 GB, então todo treino vai para o Colab (navegador ou VS Code, dados no Google Drive). Cada GPU tem um perfil; na T4 o fine-tuning completo não cabe e vira parcial — isso é registrado no relatório. Os modelos voltam num pacote que também leva as legendas e o split do treino.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 15 s. N-gramas dão comparabilidade com a literatura, mas punem paráfrases; o BERTScore com BERTimbau mede semelhança de sentido; o CLIPScore compara a legenda com a própria imagem, útil porque as referências são de um LLM; diversidade detecta um modelo que repete a mesma frase. A tabela de custo responde à parte 'a uma fração do custo' da hipótese. Por fim, análise qualitativa dos erros — pergunta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~45 s. Para atribuir uma diferença de métrica ao tipo de adaptação, todo o resto é mantido fixo — dados, instrução, resolução, ponto de partida, decodificação e critério de escolha do checkpoint. A configuração efetiva de cada execução é salva junto com os resultados.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~1 min. A principal limitação é que o gabarito vem de um LLM — as métricas medem proximidade ao estilo do Claude; a mitigação é revisar uma amostra à mão. Contaminação: o Qwen pode ter visto fotos do porto, o que favorece a variante base; fotos próprias no teste reduzem o risco. As demais são restrições de hardware e de amostra.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~40 s. O pipeline completo está implementado e parametrizado; faltam a coleta das imagens, a rotulagem, o treino e a avaliação. Preencher as datas previstas de cada etapa.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Perguntas prováveis: por que o Claude como rotulador e não anotadores humanos (custo e escala; mitigação com amostra revisada); por que o Qwen e não o Manacá (slide do modelo); por que não pré-treinar do zero (dados insuficientes); como garantir que o teste não vazou para o treino (split estável e impressão digital).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Slide de apoio: referências dos métodos e métricas citados.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5"/>
          <p:cNvGrpSpPr/>
          <p:nvPr/>
        </p:nvGrpSpPr>
        <p:grpSpPr>
          <a:xfrm>
            <a:off x="3047" y="0"/>
            <a:ext cx="12188951" cy="6858000"/>
            <a:chOff x="3047" y="0"/>
            <a:chExt cx="12188951" cy="6858000"/>
          </a:xfrm>
        </p:grpSpPr>
        <p:sp>
          <p:nvSpPr>
            <p:cNvPr id="30" name="Google Shape;30;p5"/>
            <p:cNvSpPr/>
            <p:nvPr/>
          </p:nvSpPr>
          <p:spPr>
            <a:xfrm>
              <a:off x="3047" y="0"/>
              <a:ext cx="12188951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grpSp>
          <p:nvGrpSpPr>
            <p:cNvPr id="31" name="Google Shape;31;p5"/>
            <p:cNvGrpSpPr/>
            <p:nvPr/>
          </p:nvGrpSpPr>
          <p:grpSpPr>
            <a:xfrm>
              <a:off x="3897880" y="3537160"/>
              <a:ext cx="6525587" cy="196717"/>
              <a:chOff x="3847082" y="4379128"/>
              <a:chExt cx="6525587" cy="196717"/>
            </a:xfrm>
          </p:grpSpPr>
          <p:sp>
            <p:nvSpPr>
              <p:cNvPr id="32" name="Google Shape;32;p5" descr="Gold bar"/>
              <p:cNvSpPr/>
              <p:nvPr/>
            </p:nvSpPr>
            <p:spPr>
              <a:xfrm rot="-5400000" flipH="1">
                <a:off x="4828723" y="3397486"/>
                <a:ext cx="196717" cy="2160000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  <a:effectLst>
                <a:reflection stA="50000" endA="300" endPos="38500" dist="50800" dir="5400000" sy="-100000" algn="bl" rotWithShape="0"/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3" name="Google Shape;33;p5" descr="Orange bar"/>
              <p:cNvSpPr/>
              <p:nvPr/>
            </p:nvSpPr>
            <p:spPr>
              <a:xfrm rot="-5400000" flipH="1">
                <a:off x="7012209" y="3397486"/>
                <a:ext cx="196717" cy="21600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  <a:effectLst>
                <a:reflection stA="50000" endA="300" endPos="38500" dist="50800" dir="5400000" sy="-100000" algn="bl" rotWithShape="0"/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4" name="Google Shape;34;p5" descr="Slate bar"/>
              <p:cNvSpPr/>
              <p:nvPr/>
            </p:nvSpPr>
            <p:spPr>
              <a:xfrm rot="-5400000" flipH="1">
                <a:off x="9194310" y="3397486"/>
                <a:ext cx="196717" cy="2160000"/>
              </a:xfrm>
              <a:prstGeom prst="rect">
                <a:avLst/>
              </a:prstGeom>
              <a:solidFill>
                <a:schemeClr val="accent6"/>
              </a:solidFill>
              <a:ln>
                <a:noFill/>
              </a:ln>
              <a:effectLst>
                <a:reflection stA="50000" endA="300" endPos="38500" dist="50800" dir="5400000" sy="-100000" algn="bl" rotWithShape="0"/>
              </a:effectLst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endParaRPr sz="24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1524000" y="4056114"/>
            <a:ext cx="9144000" cy="1655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ctr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ctr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ctrTitle"/>
          </p:nvPr>
        </p:nvSpPr>
        <p:spPr>
          <a:xfrm>
            <a:off x="1524000" y="912609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Questrial"/>
              <a:buNone/>
              <a:defRPr sz="6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40" name="Google Shape;40;p5" descr="Gold bar"/>
          <p:cNvSpPr/>
          <p:nvPr/>
        </p:nvSpPr>
        <p:spPr>
          <a:xfrm rot="-5400000" flipH="1">
            <a:off x="2692367" y="2555519"/>
            <a:ext cx="196717" cy="21600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reflection stA="50000" endA="300" endPos="38500" dist="50800" dir="5400000" sy="-100000" algn="bl" rotWithShape="0"/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estrial"/>
              <a:buNone/>
              <a:defRPr sz="4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1850" y="4589462"/>
            <a:ext cx="1051559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599" cy="2862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Questrial"/>
              <a:buNone/>
              <a:defRPr sz="6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189662" y="2193925"/>
            <a:ext cx="5157787" cy="397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6189662" y="1489075"/>
            <a:ext cx="5157787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3"/>
          </p:nvPr>
        </p:nvSpPr>
        <p:spPr>
          <a:xfrm>
            <a:off x="831850" y="2193925"/>
            <a:ext cx="5156199" cy="3978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02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4"/>
          </p:nvPr>
        </p:nvSpPr>
        <p:spPr>
          <a:xfrm>
            <a:off x="831850" y="1489075"/>
            <a:ext cx="5156199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None/>
              <a:defRPr sz="24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title"/>
          </p:nvPr>
        </p:nvSpPr>
        <p:spPr>
          <a:xfrm>
            <a:off x="831850" y="274637"/>
            <a:ext cx="10515599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estrial"/>
              <a:buNone/>
              <a:defRPr sz="4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estrial"/>
              <a:buNone/>
              <a:defRPr sz="4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Char char="▪"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406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810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2"/>
          </p:nvPr>
        </p:nvSpPr>
        <p:spPr>
          <a:xfrm>
            <a:off x="839787" y="2101850"/>
            <a:ext cx="3932237" cy="375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Questrial"/>
              <a:buNone/>
              <a:defRPr sz="32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>
            <a:spLocks noGrp="1"/>
          </p:cNvSpPr>
          <p:nvPr>
            <p:ph type="pic" idx="2"/>
          </p:nvPr>
        </p:nvSpPr>
        <p:spPr>
          <a:xfrm>
            <a:off x="5183187" y="987425"/>
            <a:ext cx="6172199" cy="4873624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9787" y="2101850"/>
            <a:ext cx="3932237" cy="3759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Noto Sans Symbols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7" cy="1600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Questrial"/>
              <a:buNone/>
              <a:defRPr sz="32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5"/>
            <a:ext cx="4351338" cy="1051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estrial"/>
              <a:buNone/>
              <a:defRPr sz="4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5"/>
            <a:ext cx="5811838" cy="773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estrial"/>
              <a:buNone/>
              <a:defRPr sz="4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35000">
              <a:srgbClr val="FFFFFF"/>
            </a:gs>
            <a:gs pos="100000">
              <a:schemeClr val="accent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4"/>
          <p:cNvGrpSpPr/>
          <p:nvPr/>
        </p:nvGrpSpPr>
        <p:grpSpPr>
          <a:xfrm>
            <a:off x="0" y="-6"/>
            <a:ext cx="12188951" cy="6858005"/>
            <a:chOff x="-2728" y="-5"/>
            <a:chExt cx="12188951" cy="6858005"/>
          </a:xfrm>
        </p:grpSpPr>
        <p:sp>
          <p:nvSpPr>
            <p:cNvPr id="11" name="Google Shape;11;p4"/>
            <p:cNvSpPr/>
            <p:nvPr/>
          </p:nvSpPr>
          <p:spPr>
            <a:xfrm>
              <a:off x="-2728" y="0"/>
              <a:ext cx="12188951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Questrial"/>
                <a:ea typeface="Questrial"/>
                <a:cs typeface="Questrial"/>
                <a:sym typeface="Questrial"/>
              </a:endParaRPr>
            </a:p>
          </p:txBody>
        </p:sp>
        <p:grpSp>
          <p:nvGrpSpPr>
            <p:cNvPr id="12" name="Google Shape;12;p4"/>
            <p:cNvGrpSpPr/>
            <p:nvPr/>
          </p:nvGrpSpPr>
          <p:grpSpPr>
            <a:xfrm>
              <a:off x="-2726" y="-5"/>
              <a:ext cx="716422" cy="6858000"/>
              <a:chOff x="-2726" y="-5"/>
              <a:chExt cx="716422" cy="6858000"/>
            </a:xfrm>
          </p:grpSpPr>
          <p:grpSp>
            <p:nvGrpSpPr>
              <p:cNvPr id="13" name="Google Shape;13;p4"/>
              <p:cNvGrpSpPr/>
              <p:nvPr/>
            </p:nvGrpSpPr>
            <p:grpSpPr>
              <a:xfrm>
                <a:off x="-2726" y="2007890"/>
                <a:ext cx="571473" cy="4380548"/>
                <a:chOff x="6048439" y="1740714"/>
                <a:chExt cx="196717" cy="5840727"/>
              </a:xfrm>
            </p:grpSpPr>
            <p:sp>
              <p:nvSpPr>
                <p:cNvPr id="14" name="Google Shape;14;p4" descr="Gold bar"/>
                <p:cNvSpPr/>
                <p:nvPr/>
              </p:nvSpPr>
              <p:spPr>
                <a:xfrm rot="10800000" flipH="1">
                  <a:off x="6048439" y="5661442"/>
                  <a:ext cx="196717" cy="1919999"/>
                </a:xfrm>
                <a:prstGeom prst="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5" name="Google Shape;15;p4" descr="Orange bar"/>
                <p:cNvSpPr/>
                <p:nvPr/>
              </p:nvSpPr>
              <p:spPr>
                <a:xfrm rot="10800000" flipH="1">
                  <a:off x="6048439" y="3700382"/>
                  <a:ext cx="196717" cy="1919999"/>
                </a:xfrm>
                <a:prstGeom prst="rect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6" name="Google Shape;16;p4" descr="Slate bar"/>
                <p:cNvSpPr/>
                <p:nvPr/>
              </p:nvSpPr>
              <p:spPr>
                <a:xfrm rot="10800000" flipH="1">
                  <a:off x="6048439" y="1740714"/>
                  <a:ext cx="196717" cy="1919999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grpSp>
            <p:nvGrpSpPr>
              <p:cNvPr id="17" name="Google Shape;17;p4"/>
              <p:cNvGrpSpPr/>
              <p:nvPr/>
            </p:nvGrpSpPr>
            <p:grpSpPr>
              <a:xfrm>
                <a:off x="566004" y="-4"/>
                <a:ext cx="147692" cy="6857999"/>
                <a:chOff x="6048439" y="-936480"/>
                <a:chExt cx="196717" cy="9143999"/>
              </a:xfrm>
            </p:grpSpPr>
            <p:sp>
              <p:nvSpPr>
                <p:cNvPr id="18" name="Google Shape;18;p4" descr="Gold bar"/>
                <p:cNvSpPr/>
                <p:nvPr/>
              </p:nvSpPr>
              <p:spPr>
                <a:xfrm rot="10800000" flipH="1">
                  <a:off x="6048439" y="5159057"/>
                  <a:ext cx="196717" cy="3048462"/>
                </a:xfrm>
                <a:prstGeom prst="rect">
                  <a:avLst/>
                </a:prstGeom>
                <a:gradFill>
                  <a:gsLst>
                    <a:gs pos="0">
                      <a:srgbClr val="C4E0B2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9" name="Google Shape;19;p4" descr="Orange bar"/>
                <p:cNvSpPr/>
                <p:nvPr/>
              </p:nvSpPr>
              <p:spPr>
                <a:xfrm rot="10800000" flipH="1">
                  <a:off x="6048439" y="2110594"/>
                  <a:ext cx="196717" cy="3048462"/>
                </a:xfrm>
                <a:prstGeom prst="rect">
                  <a:avLst/>
                </a:prstGeom>
                <a:gradFill>
                  <a:gsLst>
                    <a:gs pos="0">
                      <a:srgbClr val="FEE599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20" name="Google Shape;20;p4" descr="Slate bar"/>
                <p:cNvSpPr/>
                <p:nvPr/>
              </p:nvSpPr>
              <p:spPr>
                <a:xfrm rot="10800000" flipH="1">
                  <a:off x="6048439" y="-936480"/>
                  <a:ext cx="196717" cy="3048462"/>
                </a:xfrm>
                <a:prstGeom prst="rect">
                  <a:avLst/>
                </a:prstGeom>
                <a:gradFill>
                  <a:gsLst>
                    <a:gs pos="0">
                      <a:srgbClr val="9CC2E5"/>
                    </a:gs>
                    <a:gs pos="100000">
                      <a:schemeClr val="lt1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endParaRPr sz="24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  <p:sp>
            <p:nvSpPr>
              <p:cNvPr id="21" name="Google Shape;21;p4"/>
              <p:cNvSpPr/>
              <p:nvPr/>
            </p:nvSpPr>
            <p:spPr>
              <a:xfrm>
                <a:off x="646781" y="-5"/>
                <a:ext cx="45718" cy="68580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endParaRPr>
              </a:p>
            </p:txBody>
          </p:sp>
        </p:grpSp>
      </p:grp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648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Quest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3276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"/>
              <a:buFont typeface="Questrial"/>
              <a:buNone/>
              <a:defRPr sz="1200" b="0" i="0" u="none" strike="noStrike" cap="none">
                <a:solidFill>
                  <a:schemeClr val="accent3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599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▪"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4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599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Questrial"/>
              <a:buNone/>
              <a:defRPr sz="44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 descr="Slate bar"/>
          <p:cNvSpPr/>
          <p:nvPr/>
        </p:nvSpPr>
        <p:spPr>
          <a:xfrm rot="10800000" flipH="1">
            <a:off x="-8240" y="541541"/>
            <a:ext cx="571473" cy="14399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81000">
              <a:srgbClr val="FFFFFF"/>
            </a:gs>
            <a:gs pos="85000">
              <a:srgbClr val="FFFFFF"/>
            </a:gs>
            <a:gs pos="100000">
              <a:schemeClr val="accent4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"/>
          <p:cNvSpPr txBox="1">
            <a:spLocks noGrp="1"/>
          </p:cNvSpPr>
          <p:nvPr>
            <p:ph type="subTitle" idx="1"/>
          </p:nvPr>
        </p:nvSpPr>
        <p:spPr>
          <a:xfrm>
            <a:off x="1524000" y="4056125"/>
            <a:ext cx="9144000" cy="1262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dirty="0"/>
              <a:t>Alan Soares</a:t>
            </a: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dirty="0"/>
              <a:t>Daniel Lopes</a:t>
            </a:r>
          </a:p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b="1" dirty="0"/>
              <a:t>Lucas Lopes</a:t>
            </a:r>
          </a:p>
          <a:p>
            <a:pPr algn="ctr"/>
            <a:r>
              <a:rPr sz="1200" b="0" dirty="0" err="1">
                <a:solidFill>
                  <a:srgbClr val="596370"/>
                </a:solidFill>
              </a:rPr>
              <a:t>Adaptando</a:t>
            </a:r>
            <a:r>
              <a:rPr sz="1200" b="0" dirty="0">
                <a:solidFill>
                  <a:srgbClr val="596370"/>
                </a:solidFill>
              </a:rPr>
              <a:t> o Qwen3-VL-2B </a:t>
            </a:r>
            <a:r>
              <a:rPr sz="1200" b="0" dirty="0" err="1">
                <a:solidFill>
                  <a:srgbClr val="596370"/>
                </a:solidFill>
              </a:rPr>
              <a:t>ao</a:t>
            </a:r>
            <a:r>
              <a:rPr sz="1200" b="0" dirty="0">
                <a:solidFill>
                  <a:srgbClr val="596370"/>
                </a:solidFill>
              </a:rPr>
              <a:t> </a:t>
            </a:r>
            <a:r>
              <a:rPr sz="1200" b="0" dirty="0" err="1">
                <a:solidFill>
                  <a:srgbClr val="596370"/>
                </a:solidFill>
              </a:rPr>
              <a:t>domínio</a:t>
            </a:r>
            <a:r>
              <a:rPr sz="1200" b="0" dirty="0">
                <a:solidFill>
                  <a:srgbClr val="596370"/>
                </a:solidFill>
              </a:rPr>
              <a:t> </a:t>
            </a:r>
            <a:r>
              <a:rPr sz="1200" b="0" dirty="0" err="1">
                <a:solidFill>
                  <a:srgbClr val="596370"/>
                </a:solidFill>
              </a:rPr>
              <a:t>portuário</a:t>
            </a:r>
            <a:r>
              <a:rPr sz="1200" b="0" dirty="0">
                <a:solidFill>
                  <a:srgbClr val="596370"/>
                </a:solidFill>
              </a:rPr>
              <a:t> · </a:t>
            </a:r>
            <a:r>
              <a:rPr lang="pt-BR" sz="1200" dirty="0">
                <a:solidFill>
                  <a:srgbClr val="596370"/>
                </a:solidFill>
              </a:rPr>
              <a:t>PGCOMP</a:t>
            </a:r>
            <a:r>
              <a:rPr sz="1200" b="0" dirty="0">
                <a:solidFill>
                  <a:srgbClr val="596370"/>
                </a:solidFill>
              </a:rPr>
              <a:t>/</a:t>
            </a:r>
            <a:r>
              <a:rPr lang="pt-BR" sz="1200" dirty="0">
                <a:solidFill>
                  <a:srgbClr val="596370"/>
                </a:solidFill>
              </a:rPr>
              <a:t>IC0024</a:t>
            </a:r>
            <a:r>
              <a:rPr sz="1200" b="0" dirty="0">
                <a:solidFill>
                  <a:srgbClr val="596370"/>
                </a:solidFill>
              </a:rPr>
              <a:t> · </a:t>
            </a:r>
            <a:r>
              <a:rPr sz="1200" b="0" dirty="0" err="1">
                <a:solidFill>
                  <a:srgbClr val="596370"/>
                </a:solidFill>
              </a:rPr>
              <a:t>Setembro</a:t>
            </a:r>
            <a:r>
              <a:rPr sz="1200" b="0" dirty="0">
                <a:solidFill>
                  <a:srgbClr val="596370"/>
                </a:solidFill>
              </a:rPr>
              <a:t> de 2026</a:t>
            </a:r>
          </a:p>
        </p:txBody>
      </p:sp>
      <p:sp>
        <p:nvSpPr>
          <p:cNvPr id="110" name="Google Shape;110;p1"/>
          <p:cNvSpPr txBox="1">
            <a:spLocks noGrp="1"/>
          </p:cNvSpPr>
          <p:nvPr>
            <p:ph type="ctrTitle"/>
          </p:nvPr>
        </p:nvSpPr>
        <p:spPr>
          <a:xfrm>
            <a:off x="289350" y="872903"/>
            <a:ext cx="11613300" cy="2333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360000" anchor="b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400" b="1" dirty="0" err="1">
                <a:solidFill>
                  <a:srgbClr val="262626"/>
                </a:solidFill>
              </a:rPr>
              <a:t>Metodologia</a:t>
            </a:r>
            <a:r>
              <a:rPr lang="en-US" sz="3400" b="1" dirty="0">
                <a:solidFill>
                  <a:srgbClr val="262626"/>
                </a:solidFill>
              </a:rPr>
              <a:t>: </a:t>
            </a:r>
            <a:r>
              <a:rPr lang="en-US" sz="3400" b="1" dirty="0" err="1">
                <a:solidFill>
                  <a:srgbClr val="262626"/>
                </a:solidFill>
              </a:rPr>
              <a:t>Legendas</a:t>
            </a:r>
            <a:r>
              <a:rPr lang="en-US" sz="3400" b="1" dirty="0">
                <a:solidFill>
                  <a:srgbClr val="262626"/>
                </a:solidFill>
              </a:rPr>
              <a:t> em português para imagens do Porto de Salvador</a:t>
            </a:r>
            <a:endParaRPr lang="pt-BR" sz="2800" b="1" dirty="0">
              <a:solidFill>
                <a:srgbClr val="262626"/>
              </a:solidFill>
            </a:endParaRPr>
          </a:p>
        </p:txBody>
      </p:sp>
      <p:pic>
        <p:nvPicPr>
          <p:cNvPr id="111" name="Google Shape;11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9375" y="4524125"/>
            <a:ext cx="1867099" cy="2333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6875" y="4524125"/>
            <a:ext cx="1867099" cy="2333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Modelos genéricos não falam a língua do porto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O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28800"/>
            <a:ext cx="5074920" cy="23774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61288" y="201168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596370"/>
                </a:solidFill>
                <a:latin typeface="Arial"/>
              </a:rPr>
              <a:t>MODELO GENÉRICO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468880"/>
            <a:ext cx="4434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1">
                <a:solidFill>
                  <a:srgbClr val="262B33"/>
                </a:solidFill>
                <a:latin typeface="Arial"/>
              </a:rPr>
              <a:t>“Um grande barco na água perto de um edifício.”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828800"/>
            <a:ext cx="5074920" cy="2377440"/>
          </a:xfrm>
          <a:prstGeom prst="roundRect">
            <a:avLst>
              <a:gd name="adj" fmla="val 8000"/>
            </a:avLst>
          </a:prstGeom>
          <a:solidFill>
            <a:srgbClr val="E6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01968" y="2011680"/>
            <a:ext cx="4434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2E6DB4"/>
                </a:solidFill>
                <a:latin typeface="Arial"/>
              </a:rPr>
              <a:t>LEGENDA DE DOMÍNIO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1968" y="2468880"/>
            <a:ext cx="443484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1">
                <a:solidFill>
                  <a:srgbClr val="262B33"/>
                </a:solidFill>
                <a:latin typeface="Arial"/>
              </a:rPr>
              <a:t>“Navio porta-contêineres atracado no cais enquanto dois portêineres descarregam contêineres no pátio.”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5720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Portêiner, transtêiner, reach stacker, berço de atracação: o vocabulário técnico não aparece. E a maioria dos modelos de legenda escreve em inglês.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6370"/>
                </a:solidFill>
                <a:latin typeface="Arial"/>
              </a:rPr>
              <a:t>Exemplo ilustrativo (data/sample do repositório)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Hipótese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828800"/>
            <a:ext cx="10515600" cy="2926080"/>
          </a:xfrm>
          <a:prstGeom prst="roundRect">
            <a:avLst>
              <a:gd name="adj" fmla="val 8000"/>
            </a:avLst>
          </a:prstGeom>
          <a:solidFill>
            <a:srgbClr val="E6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298448" y="2240280"/>
            <a:ext cx="365760" cy="73152"/>
          </a:xfrm>
          <a:prstGeom prst="rect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55648" y="2240280"/>
            <a:ext cx="365760" cy="7315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212848" y="2240280"/>
            <a:ext cx="365760" cy="73152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670048" y="2240280"/>
            <a:ext cx="365760" cy="7315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98448" y="2560320"/>
            <a:ext cx="960120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0" i="0">
                <a:solidFill>
                  <a:srgbClr val="1F2A3C"/>
                </a:solidFill>
                <a:latin typeface="Arial"/>
              </a:rPr>
              <a:t>Um VLM pequeno (~2 B de parâmetros), ajustado com poucas centenas de imagens do domínio, aproxima-se de um VLM de fronteira ao legendar imagens portuárias em português — </a:t>
            </a:r>
            <a:r>
              <a:rPr sz="2800" b="1" i="0">
                <a:solidFill>
                  <a:srgbClr val="2E6DB4"/>
                </a:solidFill>
                <a:latin typeface="Arial"/>
              </a:rPr>
              <a:t>a uma fração do custo.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Cinco perguntas guiam o desenho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PERGUNTAS DE PESQUISA</a:t>
            </a:r>
          </a:p>
        </p:txBody>
      </p:sp>
      <p:sp>
        <p:nvSpPr>
          <p:cNvPr id="5" name="Oval 4"/>
          <p:cNvSpPr/>
          <p:nvPr/>
        </p:nvSpPr>
        <p:spPr>
          <a:xfrm>
            <a:off x="932688" y="1874519"/>
            <a:ext cx="548640" cy="548640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09928" y="1874519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62B33"/>
                </a:solidFill>
                <a:latin typeface="Arial"/>
              </a:rPr>
              <a:t>Qual o gap de domínio do modelo original — e quanto cada etapa de treino recupera?</a:t>
            </a:r>
          </a:p>
        </p:txBody>
      </p:sp>
      <p:sp>
        <p:nvSpPr>
          <p:cNvPr id="7" name="Oval 6"/>
          <p:cNvSpPr/>
          <p:nvPr/>
        </p:nvSpPr>
        <p:spPr>
          <a:xfrm>
            <a:off x="932688" y="2724912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724912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62B33"/>
                </a:solidFill>
                <a:latin typeface="Arial"/>
              </a:rPr>
              <a:t>Quanto do ganho do fine-tuning completo o LoRA recupera, treinando ~1% dos parâmetros?</a:t>
            </a:r>
          </a:p>
        </p:txBody>
      </p:sp>
      <p:sp>
        <p:nvSpPr>
          <p:cNvPr id="9" name="Oval 8"/>
          <p:cNvSpPr/>
          <p:nvPr/>
        </p:nvSpPr>
        <p:spPr>
          <a:xfrm>
            <a:off x="932688" y="3575304"/>
            <a:ext cx="548640" cy="54864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F2A3C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09928" y="3575304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62B33"/>
                </a:solidFill>
                <a:latin typeface="Arial"/>
              </a:rPr>
              <a:t>A quantização em 4 bits (QLoRA) custa qualidade?</a:t>
            </a:r>
          </a:p>
        </p:txBody>
      </p:sp>
      <p:sp>
        <p:nvSpPr>
          <p:cNvPr id="11" name="Oval 10"/>
          <p:cNvSpPr/>
          <p:nvPr/>
        </p:nvSpPr>
        <p:spPr>
          <a:xfrm>
            <a:off x="932688" y="4425696"/>
            <a:ext cx="548640" cy="54864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9928" y="4425696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62B33"/>
                </a:solidFill>
                <a:latin typeface="Arial"/>
              </a:rPr>
              <a:t>Qual a distância entre o SLM ajustado e um VLM de fronteira?</a:t>
            </a:r>
          </a:p>
        </p:txBody>
      </p:sp>
      <p:sp>
        <p:nvSpPr>
          <p:cNvPr id="13" name="Oval 12"/>
          <p:cNvSpPr/>
          <p:nvPr/>
        </p:nvSpPr>
        <p:spPr>
          <a:xfrm>
            <a:off x="932688" y="5276088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9928" y="5276088"/>
            <a:ext cx="9601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0" i="0">
                <a:solidFill>
                  <a:srgbClr val="262B33"/>
                </a:solidFill>
                <a:latin typeface="Arial"/>
              </a:rPr>
              <a:t>Onde os modelos erram: vocabulário técnico, equipamentos parecidos, alucinações?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Um pipeline, dois ambientes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VISÃO GERAL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3048000" cy="3291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" y="2011680"/>
            <a:ext cx="256032" cy="25603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7048" y="1984248"/>
            <a:ext cx="213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  <a:latin typeface="Arial"/>
              </a:rPr>
              <a:t>LOCAL · DADOS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60320"/>
            <a:ext cx="2499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1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Coletar imagens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2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prepare — normalizar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3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label — Claude rotula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4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split — 70/15/15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26408" y="3291840"/>
            <a:ext cx="411480" cy="292608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5048" y="1783080"/>
            <a:ext cx="3048000" cy="3291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49368" y="2011680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60848" y="1984248"/>
            <a:ext cx="213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  <a:latin typeface="Arial"/>
              </a:rPr>
              <a:t>COLAB · GPU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9368" y="2560320"/>
            <a:ext cx="2499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5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train — 5 variantes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6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export — modelos.zip</a:t>
            </a:r>
          </a:p>
          <a:p>
            <a:pPr algn="l">
              <a:spcAft>
                <a:spcPts val="1000"/>
              </a:spcAft>
            </a:pPr>
            <a:r>
              <a:rPr sz="1400" b="0" i="0">
                <a:solidFill>
                  <a:srgbClr val="596370"/>
                </a:solidFill>
                <a:latin typeface="Arial"/>
              </a:rPr>
              <a:t>Navegador ou VS Code; dados e modelos no Google Drive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60208" y="3291840"/>
            <a:ext cx="411480" cy="292608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308848" y="1783080"/>
            <a:ext cx="3048000" cy="3291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83168" y="2011680"/>
            <a:ext cx="256032" cy="25603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94648" y="1984248"/>
            <a:ext cx="213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  <a:latin typeface="Arial"/>
              </a:rPr>
              <a:t>LOCAL · AVALIAÇÃO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83168" y="2560320"/>
            <a:ext cx="249936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7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import do pacote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8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predict — 5 variantes + gold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44546A"/>
                </a:solidFill>
                <a:latin typeface="Arial"/>
              </a:rPr>
              <a:t>9 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evaluate — relatório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5349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262B33"/>
                </a:solidFill>
                <a:latin typeface="Arial"/>
              </a:rPr>
              <a:t>Um ponto de entrada (</a:t>
            </a:r>
            <a:r>
              <a:rPr sz="1700" b="1" i="0">
                <a:solidFill>
                  <a:srgbClr val="262B33"/>
                </a:solidFill>
                <a:latin typeface="Courier New"/>
              </a:rPr>
              <a:t>python -m src &lt;comando&gt;</a:t>
            </a:r>
            <a:r>
              <a:rPr sz="1700" b="0" i="0">
                <a:solidFill>
                  <a:srgbClr val="262B33"/>
                </a:solidFill>
                <a:latin typeface="Arial"/>
              </a:rPr>
              <a:t>) e todos os parâmetros em </a:t>
            </a:r>
            <a:r>
              <a:rPr sz="1700" b="1" i="0">
                <a:solidFill>
                  <a:srgbClr val="262B33"/>
                </a:solidFill>
                <a:latin typeface="Courier New"/>
              </a:rPr>
              <a:t>configs/default.yaml</a:t>
            </a:r>
            <a:r>
              <a:rPr sz="1700" b="0" i="0">
                <a:solidFill>
                  <a:srgbClr val="262B33"/>
                </a:solidFill>
                <a:latin typeface="Arial"/>
              </a:rPr>
              <a:t>, com perfis por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Dataset próprio, com proveniência por imagem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DADOS · CONSTRUÇÃO</a:t>
            </a:r>
          </a:p>
        </p:txBody>
      </p:sp>
      <p:sp>
        <p:nvSpPr>
          <p:cNvPr id="5" name="Oval 4"/>
          <p:cNvSpPr/>
          <p:nvPr/>
        </p:nvSpPr>
        <p:spPr>
          <a:xfrm>
            <a:off x="886968" y="1874519"/>
            <a:ext cx="274320" cy="274320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44168" y="18288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Coleta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224028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62B33"/>
                </a:solidFill>
                <a:latin typeface="Arial"/>
              </a:rPr>
              <a:t>Fotos próprias, Wikimedia Commons e acervos com licença. Cobrir contêineres, granéis, cruzeiros, rebocadores, infraestrutura e operação.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3246120"/>
            <a:ext cx="274320" cy="27432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44168" y="32004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Normalização (prepare)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361188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62B33"/>
                </a:solidFill>
                <a:latin typeface="Arial"/>
              </a:rPr>
              <a:t>Orientação EXIF, RGB, lado maior de 1024 px, deduplicação por SHA-1, ids psa_0001…</a:t>
            </a:r>
          </a:p>
        </p:txBody>
      </p:sp>
      <p:sp>
        <p:nvSpPr>
          <p:cNvPr id="11" name="Oval 10"/>
          <p:cNvSpPr/>
          <p:nvPr/>
        </p:nvSpPr>
        <p:spPr>
          <a:xfrm>
            <a:off x="886968" y="4617720"/>
            <a:ext cx="274320" cy="2743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44168" y="4572000"/>
            <a:ext cx="5852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Proveniência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44168" y="4983480"/>
            <a:ext cx="5852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262B33"/>
                </a:solidFill>
                <a:latin typeface="Arial"/>
              </a:rPr>
              <a:t>metadata.csv com fonte, URL e licença de cada imagem — condição para publicar e citar.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182880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927848" y="201168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2E6DB4"/>
                </a:solidFill>
                <a:latin typeface="Arial"/>
              </a:rPr>
              <a:t>≥ 700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297180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imagens recomendadas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07808" y="3931920"/>
            <a:ext cx="3749039" cy="18288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927848" y="4114800"/>
            <a:ext cx="31089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 i="0">
                <a:solidFill>
                  <a:srgbClr val="2E6DB4"/>
                </a:solidFill>
                <a:latin typeface="Arial"/>
              </a:rPr>
              <a:t>≥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27848" y="507492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62B33"/>
                </a:solidFill>
                <a:latin typeface="Arial"/>
              </a:rPr>
              <a:t>no teste, para o </a:t>
            </a:r>
            <a:r>
              <a:rPr sz="1600" b="0" i="0" dirty="0" err="1">
                <a:solidFill>
                  <a:srgbClr val="262B33"/>
                </a:solidFill>
                <a:latin typeface="Arial"/>
              </a:rPr>
              <a:t>CIDEr</a:t>
            </a:r>
            <a:r>
              <a:rPr sz="1600" b="0" i="0" dirty="0">
                <a:solidFill>
                  <a:srgbClr val="262B3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B33"/>
                </a:solidFill>
                <a:latin typeface="Arial"/>
              </a:rPr>
              <a:t>ficar</a:t>
            </a:r>
            <a:r>
              <a:rPr sz="1600" b="0" i="0" dirty="0">
                <a:solidFill>
                  <a:srgbClr val="262B3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262B33"/>
                </a:solidFill>
                <a:latin typeface="Arial"/>
              </a:rPr>
              <a:t>estável</a:t>
            </a:r>
            <a:endParaRPr sz="1600" b="0" i="0" dirty="0">
              <a:solidFill>
                <a:srgbClr val="262B33"/>
              </a:solidFill>
              <a:latin typeface="Arial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32688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6370"/>
                </a:solidFill>
                <a:latin typeface="Arial"/>
              </a:rPr>
              <a:t>Guia completo: docs/dataset.md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Claude Opus 5.5 escreve as referências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DADOS · ROTULAGEM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828800"/>
            <a:ext cx="512064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Glossário portuário e contexto do Porto de Salvador no prompt; saída em JSON estruturado.</a:t>
            </a:r>
          </a:p>
        </p:txBody>
      </p:sp>
      <p:sp>
        <p:nvSpPr>
          <p:cNvPr id="6" name="Oval 5"/>
          <p:cNvSpPr/>
          <p:nvPr/>
        </p:nvSpPr>
        <p:spPr>
          <a:xfrm>
            <a:off x="886968" y="2816352"/>
            <a:ext cx="164592" cy="164592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7432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3 legendas por imagem, com focos diferentes</a:t>
            </a:r>
          </a:p>
        </p:txBody>
      </p:sp>
      <p:sp>
        <p:nvSpPr>
          <p:cNvPr id="8" name="Oval 7"/>
          <p:cNvSpPr/>
          <p:nvPr/>
        </p:nvSpPr>
        <p:spPr>
          <a:xfrm>
            <a:off x="886968" y="3291840"/>
            <a:ext cx="164592" cy="164592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321868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Descrever só o visível; nunca inventar nomes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767328"/>
            <a:ext cx="164592" cy="164592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369417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Termo técnico só com certeza visual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4242816"/>
            <a:ext cx="164592" cy="16459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07008" y="4169664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Uma frase de 12 a 30 palavras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718304"/>
            <a:ext cx="164592" cy="164592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07008" y="4645152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Imagens fora do domínio são marcadas e descartadas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1828800"/>
            <a:ext cx="5029200" cy="3291840"/>
          </a:xfrm>
          <a:prstGeom prst="roundRect">
            <a:avLst>
              <a:gd name="adj" fmla="val 8000"/>
            </a:avLst>
          </a:prstGeom>
          <a:solidFill>
            <a:srgbClr val="1F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01968" y="2011680"/>
            <a:ext cx="448056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{"image_id": "psa_0001",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"legendas": [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  "Navio porta-contêineres atracado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   no cais enquanto dois portêineres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   descarregam contêineres…",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  "…", "…"],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"objetos": ["portêiner", "cais"],</a:t>
            </a:r>
          </a:p>
          <a:p>
            <a:pPr algn="l"/>
            <a:r>
              <a:rPr sz="1400" b="0" i="0">
                <a:solidFill>
                  <a:srgbClr val="DCE4EE"/>
                </a:solidFill>
                <a:latin typeface="Courier New"/>
              </a:rPr>
              <a:t> "fora_de_dominio": false}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544068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2B33"/>
                </a:solidFill>
                <a:latin typeface="Arial"/>
              </a:rPr>
              <a:t>O rotulador não compete: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as legendas do Claude são o gabarito, então o Claude fica fora da comparação.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Um teste que não muda por baixo dos modelos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DADOS · DIVISÃO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1828800"/>
            <a:ext cx="7287767" cy="1280160"/>
          </a:xfrm>
          <a:prstGeom prst="rect">
            <a:avLst/>
          </a:prstGeom>
          <a:solidFill>
            <a:srgbClr val="2E6D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1920240"/>
            <a:ext cx="692200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rial"/>
              </a:rPr>
              <a:t>70%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560320"/>
            <a:ext cx="692200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Arial"/>
              </a:rPr>
              <a:t>treino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02167" y="1828800"/>
            <a:ext cx="1504187" cy="1280160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30767" y="1920240"/>
            <a:ext cx="1138427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F2A3C"/>
                </a:solidFill>
                <a:latin typeface="Arial"/>
              </a:rPr>
              <a:t>15%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7" y="2560320"/>
            <a:ext cx="1138427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A3C"/>
                </a:solidFill>
                <a:latin typeface="Arial"/>
              </a:rPr>
              <a:t>validação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779507" y="1828800"/>
            <a:ext cx="1577339" cy="1280160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08107" y="1920240"/>
            <a:ext cx="1211579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>
                <a:solidFill>
                  <a:srgbClr val="1F2A3C"/>
                </a:solidFill>
                <a:latin typeface="Arial"/>
              </a:rP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8107" y="2560320"/>
            <a:ext cx="121157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1F2A3C"/>
                </a:solidFill>
                <a:latin typeface="Arial"/>
              </a:rPr>
              <a:t>teste</a:t>
            </a:r>
          </a:p>
        </p:txBody>
      </p:sp>
      <p:sp>
        <p:nvSpPr>
          <p:cNvPr id="14" name="Oval 13"/>
          <p:cNvSpPr/>
          <p:nvPr/>
        </p:nvSpPr>
        <p:spPr>
          <a:xfrm>
            <a:off x="841248" y="3657600"/>
            <a:ext cx="274320" cy="274320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98448" y="361188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Semente fixa — </a:t>
            </a:r>
            <a:r>
              <a:rPr sz="1800" b="0" i="0">
                <a:solidFill>
                  <a:srgbClr val="262B33"/>
                </a:solidFill>
                <a:latin typeface="Arial"/>
              </a:rPr>
              <a:t>divisão reproduzível</a:t>
            </a:r>
          </a:p>
        </p:txBody>
      </p:sp>
      <p:sp>
        <p:nvSpPr>
          <p:cNvPr id="16" name="Oval 15"/>
          <p:cNvSpPr/>
          <p:nvPr/>
        </p:nvSpPr>
        <p:spPr>
          <a:xfrm>
            <a:off x="6099048" y="3657600"/>
            <a:ext cx="274320" cy="27432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56248" y="361188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Estável — </a:t>
            </a:r>
            <a:r>
              <a:rPr sz="1800" b="0" i="0">
                <a:solidFill>
                  <a:srgbClr val="262B33"/>
                </a:solidFill>
                <a:latin typeface="Arial"/>
              </a:rPr>
              <a:t>imagens novas não mexem no teste</a:t>
            </a:r>
          </a:p>
        </p:txBody>
      </p:sp>
      <p:sp>
        <p:nvSpPr>
          <p:cNvPr id="18" name="Oval 17"/>
          <p:cNvSpPr/>
          <p:nvPr/>
        </p:nvSpPr>
        <p:spPr>
          <a:xfrm>
            <a:off x="841248" y="4754880"/>
            <a:ext cx="274320" cy="274320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98448" y="470916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Sem fora-de-domínio — </a:t>
            </a:r>
            <a:r>
              <a:rPr sz="1800" b="0" i="0">
                <a:solidFill>
                  <a:srgbClr val="262B33"/>
                </a:solidFill>
                <a:latin typeface="Arial"/>
              </a:rPr>
              <a:t>marcadas pelo rotulador</a:t>
            </a:r>
          </a:p>
        </p:txBody>
      </p:sp>
      <p:sp>
        <p:nvSpPr>
          <p:cNvPr id="20" name="Oval 19"/>
          <p:cNvSpPr/>
          <p:nvPr/>
        </p:nvSpPr>
        <p:spPr>
          <a:xfrm>
            <a:off x="6099048" y="4754880"/>
            <a:ext cx="274320" cy="27432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4709160"/>
            <a:ext cx="46177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Impressão digital — </a:t>
            </a:r>
            <a:r>
              <a:rPr sz="1800" b="0" i="0">
                <a:solidFill>
                  <a:srgbClr val="262B33"/>
                </a:solidFill>
                <a:latin typeface="Arial"/>
              </a:rPr>
              <a:t>a inferência avisa se o split mudou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Qwen3-VL-2B: um VLM pequeno que já enxerga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MODELO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8308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084831"/>
            <a:ext cx="1463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Arial"/>
              </a:rPr>
              <a:t>Imagem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450592"/>
            <a:ext cx="1463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2B33"/>
                </a:solidFill>
                <a:latin typeface="Arial"/>
              </a:rPr>
              <a:t>até 448 px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51760" y="2313432"/>
            <a:ext cx="310896" cy="256032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035808" y="178308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E6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18688" y="1938528"/>
            <a:ext cx="457200" cy="73152"/>
          </a:xfrm>
          <a:prstGeom prst="rect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18688" y="2084831"/>
            <a:ext cx="1463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Arial"/>
              </a:rPr>
              <a:t>Encoder ViT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18688" y="2450592"/>
            <a:ext cx="1463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2B33"/>
                </a:solidFill>
                <a:latin typeface="Arial"/>
              </a:rPr>
              <a:t>~0,4 B · congelado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6320" y="2313432"/>
            <a:ext cx="310896" cy="256032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230368" y="178308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E6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13248" y="1938528"/>
            <a:ext cx="457200" cy="73152"/>
          </a:xfrm>
          <a:prstGeom prst="rect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13248" y="2084831"/>
            <a:ext cx="1463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Arial"/>
              </a:rPr>
              <a:t>Conector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13248" y="2450592"/>
            <a:ext cx="1463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2B33"/>
                </a:solidFill>
                <a:latin typeface="Arial"/>
              </a:rPr>
              <a:t>merger · ~0,1 B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040879" y="2313432"/>
            <a:ext cx="310896" cy="256032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24927" y="178308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E6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607807" y="1938528"/>
            <a:ext cx="457200" cy="73152"/>
          </a:xfrm>
          <a:prstGeom prst="rect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07807" y="2084831"/>
            <a:ext cx="1463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Arial"/>
              </a:rPr>
              <a:t>LLM Qwen3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7" y="2450592"/>
            <a:ext cx="1463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2B33"/>
                </a:solidFill>
                <a:latin typeface="Arial"/>
              </a:rPr>
              <a:t>~1,7 B · 28 camadas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313432"/>
            <a:ext cx="310896" cy="256032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19488" y="1783080"/>
            <a:ext cx="1737360" cy="132588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802367" y="2084831"/>
            <a:ext cx="146303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Arial"/>
              </a:rPr>
              <a:t>Legenda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02367" y="2450592"/>
            <a:ext cx="1463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262B33"/>
                </a:solidFill>
                <a:latin typeface="Arial"/>
              </a:rPr>
              <a:t>em PT-BR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3429000"/>
            <a:ext cx="10515600" cy="1234440"/>
          </a:xfrm>
          <a:prstGeom prst="roundRect">
            <a:avLst>
              <a:gd name="adj" fmla="val 8000"/>
            </a:avLst>
          </a:prstGeom>
          <a:solidFill>
            <a:srgbClr val="1F2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3566160"/>
            <a:ext cx="99669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CE4EE"/>
                </a:solidFill>
                <a:latin typeface="Courier New"/>
              </a:rPr>
              <a:t>&lt;|im_start|&gt;user [imagem] Descreva esta imagem de ambiente portuário…&lt;|im_end|&gt;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DCE4EE"/>
                </a:solidFill>
                <a:latin typeface="Courier New"/>
              </a:rPr>
              <a:t>&lt;|im_start|&gt;assistant </a:t>
            </a:r>
            <a:r>
              <a:rPr sz="1400" b="0" i="0">
                <a:solidFill>
                  <a:srgbClr val="F5A86B"/>
                </a:solidFill>
                <a:latin typeface="Courier New"/>
              </a:rPr>
              <a:t>navio porta-contêineres atracado…&lt;|im_end|&gt;</a:t>
            </a:r>
            <a:r>
              <a:rPr sz="1400" b="1" i="0">
                <a:solidFill>
                  <a:srgbClr val="DCE4EE"/>
                </a:solidFill>
                <a:latin typeface="Arial"/>
              </a:rPr>
              <a:t>   ← loss só aqui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49834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62B33"/>
                </a:solidFill>
                <a:latin typeface="Arial"/>
              </a:rPr>
              <a:t>Por que não o Manacá-1B? </a:t>
            </a:r>
            <a:r>
              <a:rPr sz="1700" b="0" i="0">
                <a:solidFill>
                  <a:srgbClr val="262B33"/>
                </a:solidFill>
                <a:latin typeface="Arial"/>
              </a:rPr>
              <a:t>É só texto: exigiria treinar do zero a ponte visão–linguagem (o LLaVA usa ~558 mil pares).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6370"/>
                </a:solidFill>
                <a:latin typeface="Arial"/>
              </a:rPr>
              <a:t>Qwen/Qwen3-VL-2B-Instruct · Apache 2.0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Seis variantes, uma pergunta para 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VARIANTES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828800"/>
          <a:ext cx="10515600" cy="384048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variante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parte de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o que treina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responde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B33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nada (zero-shot)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gap de domínio (P1)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B33"/>
                          </a:solidFill>
                          <a:latin typeface="Arial"/>
                        </a:rPr>
                        <a:t>pretrain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só o conector (~0,1 B)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adaptar como o LLM lê a imagem (P1)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B33"/>
                          </a:solidFill>
                          <a:latin typeface="Arial"/>
                        </a:rPr>
                        <a:t>finetune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pretrain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conector + LLM inteiro (~1,7 B)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teto do SLM (P1)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B33"/>
                          </a:solidFill>
                          <a:latin typeface="Arial"/>
                        </a:rPr>
                        <a:t>lora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pretrain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conector + LoRA (~1% do LLM)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eficiência de parâmetros (P2)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B33"/>
                          </a:solidFill>
                          <a:latin typeface="Arial"/>
                        </a:rPr>
                        <a:t>qlora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pretrain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conector + LoRA, LLM em 4 bits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custo da quantização (P3)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262B33"/>
                          </a:solidFill>
                          <a:latin typeface="Arial"/>
                        </a:rPr>
                        <a:t>gold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nada — Gemini Pro via API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distância à fronteira (P4)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Todas as adaptações partem do mesmo pretrain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VARIANTES · PONTO DE PARTIDA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3246120"/>
            <a:ext cx="1920240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9848" y="3355848"/>
            <a:ext cx="14630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3776472"/>
            <a:ext cx="1463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B33"/>
                </a:solidFill>
                <a:latin typeface="Arial"/>
              </a:rPr>
              <a:t>Qwen original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3246120"/>
            <a:ext cx="2103120" cy="1005840"/>
          </a:xfrm>
          <a:prstGeom prst="roundRect">
            <a:avLst>
              <a:gd name="adj" fmla="val 8000"/>
            </a:avLst>
          </a:prstGeom>
          <a:solidFill>
            <a:srgbClr val="FD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0168" y="3355848"/>
            <a:ext cx="164591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pretrain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3776472"/>
            <a:ext cx="16459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B33"/>
                </a:solidFill>
                <a:latin typeface="Arial"/>
              </a:rPr>
              <a:t>conector ~0,1 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874519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64808" y="198424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finetune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4048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B33"/>
                </a:solidFill>
                <a:latin typeface="Arial"/>
              </a:rPr>
              <a:t>+ LLM inteiro ~1,7 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32461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8" y="335584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lora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37764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B33"/>
                </a:solidFill>
                <a:latin typeface="Arial"/>
              </a:rPr>
              <a:t>+ LoRA ~17 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4617720"/>
            <a:ext cx="2651760" cy="1005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64808" y="4727448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qlora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5148072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B33"/>
                </a:solidFill>
                <a:latin typeface="Arial"/>
              </a:rPr>
              <a:t>+ LoRA, LLM em 4 bits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436608" y="3246120"/>
            <a:ext cx="1920239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5963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65208" y="3355848"/>
            <a:ext cx="146303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44546A"/>
                </a:solidFill>
                <a:latin typeface="Arial"/>
              </a:rPr>
              <a:t>gold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65208" y="3776472"/>
            <a:ext cx="1463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262B33"/>
                </a:solidFill>
                <a:latin typeface="Arial"/>
              </a:rPr>
              <a:t>Gemini · externo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761488" y="3749039"/>
            <a:ext cx="640080" cy="0"/>
          </a:xfrm>
          <a:prstGeom prst="line">
            <a:avLst/>
          </a:prstGeom>
          <a:ln w="25400">
            <a:solidFill>
              <a:srgbClr val="59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504688" y="2377439"/>
            <a:ext cx="731520" cy="1371600"/>
          </a:xfrm>
          <a:prstGeom prst="bentConnector3">
            <a:avLst/>
          </a:prstGeom>
          <a:ln w="25400">
            <a:solidFill>
              <a:srgbClr val="59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04688" y="3749039"/>
            <a:ext cx="731520" cy="0"/>
          </a:xfrm>
          <a:prstGeom prst="line">
            <a:avLst/>
          </a:prstGeom>
          <a:ln w="25400">
            <a:solidFill>
              <a:srgbClr val="59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504688" y="3749039"/>
            <a:ext cx="731520" cy="1371601"/>
          </a:xfrm>
          <a:prstGeom prst="bentConnector3">
            <a:avLst/>
          </a:prstGeom>
          <a:ln w="25400">
            <a:solidFill>
              <a:srgbClr val="5963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32688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6370"/>
                </a:solidFill>
                <a:latin typeface="Arial"/>
              </a:rPr>
              <a:t>Flag init_from=base também disponível, para isolar o efeito do pré-treino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Treino no Colab, inferência na máquina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INFRAESTRUTURA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28800"/>
            <a:ext cx="5760720" cy="3291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" y="2029968"/>
            <a:ext cx="256032" cy="256032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7048" y="2011680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  <a:latin typeface="Arial"/>
              </a:rPr>
              <a:t>COLAB · TREINO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115568" y="2560320"/>
          <a:ext cx="5212079" cy="21945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GPU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</a:rPr>
                        <a:t>fine-tuning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B33"/>
                          </a:solidFill>
                          <a:latin typeface="Arial"/>
                        </a:rPr>
                        <a:t>T4 · 15 GB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B33"/>
                          </a:solidFill>
                          <a:latin typeface="Arial"/>
                        </a:rPr>
                        <a:t>parcial (últimas 8 camadas)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B33"/>
                          </a:solidFill>
                          <a:latin typeface="Arial"/>
                        </a:rPr>
                        <a:t>L4 · 22,5 GB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B33"/>
                          </a:solidFill>
                          <a:latin typeface="Arial"/>
                        </a:rPr>
                        <a:t>completo, pesos bf16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62B33"/>
                          </a:solidFill>
                          <a:latin typeface="Arial"/>
                        </a:rPr>
                        <a:t>A100 · 40 GB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62B33"/>
                          </a:solidFill>
                          <a:latin typeface="Arial"/>
                        </a:rPr>
                        <a:t>completo, pesos fp32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Right Arrow 8"/>
          <p:cNvSpPr/>
          <p:nvPr/>
        </p:nvSpPr>
        <p:spPr>
          <a:xfrm>
            <a:off x="6876288" y="3246120"/>
            <a:ext cx="640080" cy="384048"/>
          </a:xfrm>
          <a:prstGeom prst="rightArrow">
            <a:avLst/>
          </a:prstGeom>
          <a:solidFill>
            <a:srgbClr val="5963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47688" y="3703320"/>
            <a:ext cx="1097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>
                <a:solidFill>
                  <a:srgbClr val="596370"/>
                </a:solidFill>
                <a:latin typeface="Arial"/>
              </a:rPr>
              <a:t>modelos.zip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828800"/>
            <a:ext cx="3474720" cy="32918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56448" y="2029968"/>
            <a:ext cx="256032" cy="256032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67928" y="201168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44546A"/>
                </a:solidFill>
                <a:latin typeface="Arial"/>
              </a:rPr>
              <a:t>LOCAL · INFERÊNCIA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6448" y="2606040"/>
            <a:ext cx="29260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62B33"/>
                </a:solidFill>
                <a:latin typeface="Arial"/>
              </a:rPr>
              <a:t>GPU de 4 GB: variantes carregadas em 4 bits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262B33"/>
                </a:solidFill>
                <a:latin typeface="Arial"/>
              </a:rPr>
              <a:t>O pacote traz modelos + legendas + split do treino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539496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596370"/>
                </a:solidFill>
                <a:latin typeface="Arial"/>
              </a:rPr>
              <a:t>Treino gratuito no Hugging Face descartado: o ZeroGPU gratuito dá 5 minutos de GPU por dia.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Quatro lentes sobre cada legenda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AVALIAÇÃO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28800"/>
            <a:ext cx="509778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069848" y="2057400"/>
            <a:ext cx="201168" cy="201168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89888" y="1993392"/>
            <a:ext cx="43205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N-gramas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450592"/>
            <a:ext cx="46405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BLEU-1/4, ROUGE-L, CIDEr — comparáveis com a literatura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9068" y="1828800"/>
            <a:ext cx="509778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6487668" y="2057400"/>
            <a:ext cx="201168" cy="201168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07707" y="1993392"/>
            <a:ext cx="43205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Semântica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7668" y="2450592"/>
            <a:ext cx="46405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BERTScore com BERTimbau — aceita paráfrases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3429000"/>
            <a:ext cx="509778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9848" y="3657600"/>
            <a:ext cx="201168" cy="201168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89888" y="3593592"/>
            <a:ext cx="43205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Imagem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4050791"/>
            <a:ext cx="46405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CLIPScore multilíngue — fidelidade à foto, sem depender da referência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9068" y="3429000"/>
            <a:ext cx="5097780" cy="13716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87668" y="3657600"/>
            <a:ext cx="201168" cy="201168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07707" y="3593592"/>
            <a:ext cx="43205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44546A"/>
                </a:solidFill>
                <a:latin typeface="Arial"/>
              </a:rPr>
              <a:t>Diversidade e custo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7668" y="4050791"/>
            <a:ext cx="46405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Distinct-1/2; parâmetros treináveis, VRAM, tempo, disco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21208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62B33"/>
                </a:solidFill>
                <a:latin typeface="Arial"/>
              </a:rPr>
              <a:t>Adaptado ao PT-BR: </a:t>
            </a:r>
            <a:r>
              <a:rPr sz="1600" b="0" i="0">
                <a:solidFill>
                  <a:srgbClr val="262B33"/>
                </a:solidFill>
                <a:latin typeface="Arial"/>
              </a:rPr>
              <a:t>tokenizador próprio (acentos mantidos); sem METEOR e SPICE, que dependem de Java e de WordNet em inglês. Mais análise qualitativa dos erros.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6355080"/>
            <a:ext cx="10515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 i="0">
                <a:solidFill>
                  <a:srgbClr val="596370"/>
                </a:solidFill>
                <a:latin typeface="Arial"/>
              </a:rPr>
              <a:t>Saída: results/comparativo.md e .csv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Só o que treina muda entre as variantes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COMPARABILIDADE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828800"/>
            <a:ext cx="509778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" y="208483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01368" y="1828800"/>
            <a:ext cx="39090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Mesmo split, com impressão digital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9068" y="1828800"/>
            <a:ext cx="509778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Oval 8"/>
          <p:cNvSpPr/>
          <p:nvPr/>
        </p:nvSpPr>
        <p:spPr>
          <a:xfrm>
            <a:off x="6533388" y="208483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19188" y="1828800"/>
            <a:ext cx="39090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Mesmas legendas, instrução e resolução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017520"/>
            <a:ext cx="509778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15568" y="327355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1368" y="3017520"/>
            <a:ext cx="39090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Mesmo ponto de partida (pretrain)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9068" y="3017520"/>
            <a:ext cx="509778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/>
          <p:cNvSpPr/>
          <p:nvPr/>
        </p:nvSpPr>
        <p:spPr>
          <a:xfrm>
            <a:off x="6533388" y="327355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3017520"/>
            <a:ext cx="39090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Mesma decodificação (beam search 3)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206240"/>
            <a:ext cx="509778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15568" y="446227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1368" y="4206240"/>
            <a:ext cx="39090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Checkpoint da menor loss de validação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59068" y="4206240"/>
            <a:ext cx="5097780" cy="96012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33388" y="4462272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9188" y="4206240"/>
            <a:ext cx="390906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0" i="0">
                <a:solidFill>
                  <a:srgbClr val="262B33"/>
                </a:solidFill>
                <a:latin typeface="Arial"/>
              </a:rPr>
              <a:t>Sementes fixas e configuração salva por execução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O que pode enviesar o resultado, e como mitigar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E01B1B"/>
                </a:solidFill>
                <a:latin typeface="Arial"/>
              </a:rPr>
              <a:t>LIMITAÇÕES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828800"/>
          <a:ext cx="10515600" cy="3950208"/>
        </p:xfrm>
        <a:graphic>
          <a:graphicData uri="http://schemas.openxmlformats.org/drawingml/2006/table">
            <a:tbl>
              <a:tblPr/>
              <a:tblGrid>
                <a:gridCol w="4480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limitação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Arial"/>
                        </a:rPr>
                        <a:t>mitigação</a:t>
                      </a:r>
                    </a:p>
                  </a:txBody>
                  <a:tcPr marL="109728" marR="109728" anchor="ctr">
                    <a:solidFill>
                      <a:srgbClr val="4454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Referências geradas por LLM, não humanas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Revisar à mão uma amostra do teste (~50) e reportar a concordância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Inferência local em 4 bits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Declarar, ou rodar a inferência sem quantizar (CPU)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Qwen pode ter visto fotos públicas do porto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Usar fotos próprias no conjunto de teste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CIDEr instável com poucas imagens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≥ 100 imagens de teste; reportar sempre o N</a:t>
                      </a:r>
                    </a:p>
                  </a:txBody>
                  <a:tcPr marL="109728" marR="109728" anchor="ctr"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Fine-tuning só parcial na T4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62B33"/>
                          </a:solidFill>
                          <a:latin typeface="Arial"/>
                        </a:rPr>
                        <a:t>Treinar na L4 ou A100 (unidades do Colab)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/>
              <a:t>Pipeline pronto; próximo passo são os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3474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2E6DB4"/>
                </a:solidFill>
                <a:latin typeface="Arial"/>
              </a:rPr>
              <a:t>ESTADO ATUAL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10312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E9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Oval 5"/>
          <p:cNvSpPr/>
          <p:nvPr/>
        </p:nvSpPr>
        <p:spPr>
          <a:xfrm>
            <a:off x="1115568" y="2331720"/>
            <a:ext cx="457200" cy="457200"/>
          </a:xfrm>
          <a:prstGeom prst="ellipse">
            <a:avLst/>
          </a:prstGeom>
          <a:solidFill>
            <a:srgbClr val="70AD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09928" y="2395728"/>
            <a:ext cx="141731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44546A"/>
                </a:solidFill>
                <a:latin typeface="Arial"/>
              </a:rPr>
              <a:t>Pronto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017520"/>
            <a:ext cx="19202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Código, configurações, notebook do Colab e testes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38727" y="210312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Oval 9"/>
          <p:cNvSpPr/>
          <p:nvPr/>
        </p:nvSpPr>
        <p:spPr>
          <a:xfrm>
            <a:off x="3813048" y="2331720"/>
            <a:ext cx="457200" cy="457200"/>
          </a:xfrm>
          <a:prstGeom prst="ellipse">
            <a:avLst/>
          </a:prstGeom>
          <a:solidFill>
            <a:srgbClr val="E0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13048" y="3017520"/>
            <a:ext cx="19202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Coletar e rotular as imagens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7" y="210312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Oval 13"/>
          <p:cNvSpPr/>
          <p:nvPr/>
        </p:nvSpPr>
        <p:spPr>
          <a:xfrm>
            <a:off x="6510527" y="2331720"/>
            <a:ext cx="457200" cy="4572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3017520"/>
            <a:ext cx="19202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Treinar as 5 variantes no Colab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2103120"/>
            <a:ext cx="2423160" cy="2286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/>
          <p:cNvSpPr/>
          <p:nvPr/>
        </p:nvSpPr>
        <p:spPr>
          <a:xfrm>
            <a:off x="9208008" y="2331720"/>
            <a:ext cx="457200" cy="457200"/>
          </a:xfrm>
          <a:prstGeom prst="ellipse">
            <a:avLst/>
          </a:prstGeom>
          <a:solidFill>
            <a:srgbClr val="5B9B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08008" y="3017520"/>
            <a:ext cx="1920239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62B33"/>
                </a:solidFill>
                <a:latin typeface="Arial"/>
              </a:rPr>
              <a:t>Avaliar e analisar os erros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8463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96370"/>
                </a:solidFill>
                <a:latin typeface="Arial"/>
              </a:rPr>
              <a:t>Resultados ainda não produzidos: esta apresentação descreve o desenho do experimento.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2CAE3263-3FCA-B9D1-F5B8-05613D9055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Obrigado!</a:t>
            </a:r>
          </a:p>
          <a:p>
            <a:r>
              <a:rPr sz="1800"/>
              <a:t>Código e documentação: github.com/alanssoares/ufba-portos-image-captioning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CD17E130-2D9C-42B3-68DF-01C4C23BD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Dúvidas?</a:t>
            </a:r>
          </a:p>
        </p:txBody>
      </p:sp>
    </p:spTree>
    <p:extLst>
      <p:ext uri="{BB962C8B-B14F-4D97-AF65-F5344CB8AC3E}">
        <p14:creationId xmlns:p14="http://schemas.microsoft.com/office/powerpoint/2010/main" val="171557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E65107AC-56F9-73E2-FF16-D3BE3B1BED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400"/>
              <a:t>BAI, S. et al. Qwen3-VL Technical Report. Qwen Team, Alibaba Cloud, 2025.</a:t>
            </a:r>
            <a:endParaRPr lang="pt-BR" dirty="0"/>
          </a:p>
          <a:p>
            <a:r>
              <a:rPr sz="1400"/>
              <a:t>LIU, H. et al. Visual Instruction Tuning (LLaVA). NeurIPS, 2023.</a:t>
            </a:r>
          </a:p>
          <a:p>
            <a:r>
              <a:rPr sz="1400"/>
              <a:t>HU, E. J. et al. LoRA: Low-Rank Adaptation of Large Language Models. ICLR, 2022.</a:t>
            </a:r>
          </a:p>
          <a:p>
            <a:r>
              <a:rPr sz="1400"/>
              <a:t>DETTMERS, T. et al. QLoRA: Efficient Finetuning of Quantized LLMs. NeurIPS, 2023.</a:t>
            </a:r>
          </a:p>
          <a:p>
            <a:r>
              <a:rPr sz="1400"/>
              <a:t>PAPINENI, K. et al. BLEU: a Method for Automatic Evaluation of Machine Translation. ACL, 2002.</a:t>
            </a:r>
          </a:p>
          <a:p>
            <a:r>
              <a:rPr sz="1400"/>
              <a:t>LIN, C.-Y. ROUGE: A Package for Automatic Evaluation of Summaries. ACL Workshop, 2004.</a:t>
            </a:r>
          </a:p>
          <a:p>
            <a:r>
              <a:rPr sz="1400"/>
              <a:t>VEDANTAM, R. et al. CIDEr: Consensus-based Image Description Evaluation. CVPR, 2015.</a:t>
            </a:r>
          </a:p>
          <a:p>
            <a:r>
              <a:rPr sz="1400"/>
              <a:t>ZHANG, T. et al. BERTScore: Evaluating Text Generation with BERT. ICLR, 2020.</a:t>
            </a:r>
          </a:p>
          <a:p>
            <a:r>
              <a:rPr sz="1400"/>
              <a:t>HESSEL, J. et al. CLIPScore: A Reference-free Evaluation Metric for Image Captioning. EMNLP, 2021.</a:t>
            </a:r>
          </a:p>
          <a:p>
            <a:r>
              <a:rPr sz="1400"/>
              <a:t>SOUZA, F.; NOGUEIRA, R.; LOTUFO, R. BERTimbau: Pretrained BERT Models for Brazilian Portuguese. BRACIS, 2020.</a:t>
            </a:r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F17706C-A5D1-41CD-F43A-6B3C6862C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Referências</a:t>
            </a:r>
          </a:p>
        </p:txBody>
      </p:sp>
    </p:spTree>
    <p:extLst>
      <p:ext uri="{BB962C8B-B14F-4D97-AF65-F5344CB8AC3E}">
        <p14:creationId xmlns:p14="http://schemas.microsoft.com/office/powerpoint/2010/main" val="4154290256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 level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2573</Words>
  <Application>Microsoft Office PowerPoint</Application>
  <PresentationFormat>Widescreen</PresentationFormat>
  <Paragraphs>247</Paragraphs>
  <Slides>18</Slides>
  <Notes>18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4" baseType="lpstr">
      <vt:lpstr>Courier New</vt:lpstr>
      <vt:lpstr>Arial</vt:lpstr>
      <vt:lpstr>Noto Sans Symbols</vt:lpstr>
      <vt:lpstr>Times New Roman</vt:lpstr>
      <vt:lpstr>Questrial</vt:lpstr>
      <vt:lpstr>Presentation level design</vt:lpstr>
      <vt:lpstr>Metodologia: Legendas em português para imagens do Porto de Salvador</vt:lpstr>
      <vt:lpstr>Modelos genéricos não falam a língua do porto</vt:lpstr>
      <vt:lpstr>Hipótese</vt:lpstr>
      <vt:lpstr>Cinco perguntas guiam o desenho</vt:lpstr>
      <vt:lpstr>Um pipeline, dois ambientes</vt:lpstr>
      <vt:lpstr>Dataset próprio, com proveniência por imagem</vt:lpstr>
      <vt:lpstr>Claude Opus 5.5 escreve as referências</vt:lpstr>
      <vt:lpstr>Um teste que não muda por baixo dos modelos</vt:lpstr>
      <vt:lpstr>Qwen3-VL-2B: um VLM pequeno que já enxerga</vt:lpstr>
      <vt:lpstr>Seis variantes, uma pergunta para cada</vt:lpstr>
      <vt:lpstr>Todas as adaptações partem do mesmo pretrain</vt:lpstr>
      <vt:lpstr>Treino no Colab, inferência na máquina local</vt:lpstr>
      <vt:lpstr>Quatro lentes sobre cada legenda</vt:lpstr>
      <vt:lpstr>Só o que treina muda entre as variantes</vt:lpstr>
      <vt:lpstr>O que pode enviesar o resultado, e como mitigar</vt:lpstr>
      <vt:lpstr>Pipeline pronto; próximo passo são os dados</vt:lpstr>
      <vt:lpstr>Dúvidas?</vt:lpstr>
      <vt:lpstr>Referências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LLM </dc:title>
  <cp:lastModifiedBy>Alan Soares</cp:lastModifiedBy>
  <cp:revision>26</cp:revision>
  <dcterms:modified xsi:type="dcterms:W3CDTF">2026-10-01T17:31:40Z</dcterms:modified>
</cp:coreProperties>
</file>